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COE 454 · SE 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965960"/>
            <a:ext cx="1554480" cy="54864"/>
          </a:xfrm>
          <a:prstGeom prst="roundRect">
            <a:avLst>
              <a:gd name="adj" fmla="val 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" y="2148840"/>
            <a:ext cx="1050919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17140F"/>
                </a:solidFill>
                <a:latin typeface="Georgia"/>
              </a:rPr>
              <a:t>Squally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17140F"/>
                </a:solidFill>
                <a:latin typeface="Georgia"/>
              </a:rPr>
              <a:t>Line</a:t>
            </a:r>
            <a:r>
              <a:rPr sz="9600" b="0" i="0">
                <a:solidFill>
                  <a:srgbClr val="9A7B2E"/>
                </a:solidFill>
                <a:latin typeface="Georgi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0749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6558"/>
                </a:solidFill>
                <a:latin typeface="Segoe UI"/>
              </a:rPr>
              <a:t>A web platform built for a real fashion-design client — from requirements to a live, deployed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5989320"/>
            <a:ext cx="5806440" cy="50292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5806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40F"/>
                </a:solidFill>
                <a:latin typeface="Consolas"/>
              </a:rPr>
              <a:t>squallyline-frontend-production.up.railway.app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THE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A studio run on paper and WhatsApp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[Client name]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, fashion designer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Based in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[City]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, Ghana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Centres: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bespoke tailoring · ready-to-wear · consultations &amp; fittings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Measurements kept in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paper notebooks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Orders &amp; quotes negotiated over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WhatsApp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Production progress tracked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in the tailor's head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Customers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couldn't browse, save measurements, or follow an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THE PROCESS WE FOLLOWED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A deliberate software development life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Problem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6075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6075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7515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A7B2E"/>
                </a:solidFill>
                <a:latin typeface="Segoe UI"/>
              </a:rPr>
              <a:t>Requirements &amp;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90902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0902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2342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Planning &amp;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5729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5729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7169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557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557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997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5384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5384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6824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90211" y="2148840"/>
            <a:ext cx="1360235" cy="22860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0211" y="2368296"/>
            <a:ext cx="13602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7B2E"/>
                </a:solidFill>
                <a:latin typeface="Consola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1651" y="2423160"/>
            <a:ext cx="117735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140F"/>
                </a:solidFill>
                <a:latin typeface="Segoe UI"/>
              </a:rPr>
              <a:t>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727448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3A2F"/>
                </a:solidFill>
                <a:latin typeface="Segoe UI"/>
              </a:rPr>
              <a:t>Run </a:t>
            </a:r>
            <a:r>
              <a:rPr sz="1500" b="1" i="0">
                <a:solidFill>
                  <a:srgbClr val="17140F"/>
                </a:solidFill>
                <a:latin typeface="Segoe UI"/>
              </a:rPr>
              <a:t>Agile &amp; incrementally</a:t>
            </a:r>
            <a:r>
              <a:rPr sz="1500" b="0" i="0">
                <a:solidFill>
                  <a:srgbClr val="403A2F"/>
                </a:solidFill>
                <a:latin typeface="Segoe UI"/>
              </a:rPr>
              <a:t>, prioritised with </a:t>
            </a:r>
            <a:r>
              <a:rPr sz="1500" b="1" i="0">
                <a:solidFill>
                  <a:srgbClr val="17140F"/>
                </a:solidFill>
                <a:latin typeface="Segoe UI"/>
              </a:rPr>
              <a:t>MoSCoW</a:t>
            </a:r>
            <a:r>
              <a:rPr sz="1500" b="0" i="0">
                <a:solidFill>
                  <a:srgbClr val="403A2F"/>
                </a:solidFill>
                <a:latin typeface="Segoe UI"/>
              </a:rPr>
              <a:t>, shipping a working MVP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REQUIREMENTS ELICITATION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The methods we chose —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356616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Stakeholder interviews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semi-structured, open-ended sessions with the designer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Observation / contextual inquiry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watched him measure a client and run an order end to 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356616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SUPPORTING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Document analysis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his paper measurement books &amp; WhatsApp order chats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Iterative prototyping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mock-ups reviewed and refined with him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88152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3A2F"/>
                </a:solidFill>
                <a:latin typeface="Segoe UI"/>
              </a:rPr>
              <a:t>Chosen to fit </a:t>
            </a:r>
            <a:r>
              <a:rPr sz="1500" b="1" i="0">
                <a:solidFill>
                  <a:srgbClr val="17140F"/>
                </a:solidFill>
                <a:latin typeface="Segoe UI"/>
              </a:rPr>
              <a:t>one expert client</a:t>
            </a:r>
            <a:r>
              <a:rPr sz="1500" b="0" i="0">
                <a:solidFill>
                  <a:srgbClr val="403A2F"/>
                </a:solidFill>
                <a:latin typeface="Segoe UI"/>
              </a:rPr>
              <a:t> — not a survey crowd.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Functional &amp; non-functional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FUNCTIONAL —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Measurement profiles &amp; history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Catalogue: products &amp; made-to-order styles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Cart, checkout &amp; online payment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Quote → agreement → order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Production tracking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NON-FUNCTIONAL — HOW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Security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money &amp; personal data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Performance &amp; scalability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Availability &amp; reliability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Usability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Compliance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Ghana payments, cedis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A three-tier client–server web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423160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210312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21031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customer ·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423160"/>
            <a:ext cx="658368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7B2E"/>
                </a:solidFill>
                <a:latin typeface="Consolas"/>
              </a:rPr>
              <a:t>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6558"/>
                </a:solidFill>
                <a:latin typeface="Consolas"/>
              </a:rPr>
              <a:t>HTTPS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5" y="2423160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5" y="2651760"/>
            <a:ext cx="210312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React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5" y="3063240"/>
            <a:ext cx="21031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React 19 · Router · three.js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5855" y="2423160"/>
            <a:ext cx="658368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7B2E"/>
                </a:solidFill>
                <a:latin typeface="Consolas"/>
              </a:rPr>
              <a:t>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6558"/>
                </a:solidFill>
                <a:latin typeface="Consolas"/>
              </a:rPr>
              <a:t>REST ·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3" y="2423160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3" y="2651760"/>
            <a:ext cx="210312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Django + DRF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3" y="3063240"/>
            <a:ext cx="21031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Gunicorn · WhiteNoise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3" y="2423160"/>
            <a:ext cx="658368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A7B2E"/>
                </a:solidFill>
                <a:latin typeface="Consolas"/>
              </a:rPr>
              <a:t>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6558"/>
                </a:solidFill>
                <a:latin typeface="Consolas"/>
              </a:rPr>
              <a:t>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1" y="2423160"/>
            <a:ext cx="210312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2651760"/>
            <a:ext cx="2103120" cy="4800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3063240"/>
            <a:ext cx="21031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Railway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6343" y="4160520"/>
            <a:ext cx="2560320" cy="109728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6343" y="4379976"/>
            <a:ext cx="2560320" cy="4608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Paystack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6343" y="4774996"/>
            <a:ext cx="2560320" cy="373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payments · GHS · webhook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5031" y="4160520"/>
            <a:ext cx="2560320" cy="109728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5031" y="4379976"/>
            <a:ext cx="2560320" cy="4608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Railway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5031" y="4774996"/>
            <a:ext cx="2560320" cy="373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558"/>
                </a:solidFill>
                <a:latin typeface="Consolas"/>
              </a:rPr>
              <a:t>hosting · both tiers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ARCHITECTURE DECISION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Decisions we recorded &amp; can defend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ADR-001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Separate SPA + REST API, not a monolith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ADR-002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Stateless JWT auth over server sessions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ADR-003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Paystack gateway (Ghana market, cedis)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2191" y="2240279"/>
            <a:ext cx="4513935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ADR-004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PostgreSQL in production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ADR-005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Railway hosting for both tiers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ADR-006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Permissive-licence-only dependencies (React MIT · Django BSD)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Three roles, three different worlds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3259226" cy="416052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258568"/>
            <a:ext cx="26740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140F"/>
                </a:solidFill>
                <a:latin typeface="Georgia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825496"/>
            <a:ext cx="2674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7B2E"/>
                </a:solidFill>
                <a:latin typeface="Consolas"/>
              </a:rPr>
              <a:t>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218687"/>
            <a:ext cx="2674010" cy="2862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Browse &amp; buy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Measurements &amp; people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Requests &amp; orders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Accept proposals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6234" y="1965960"/>
            <a:ext cx="3259226" cy="416052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8842" y="2258568"/>
            <a:ext cx="26740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140F"/>
                </a:solidFill>
                <a:latin typeface="Georgia"/>
              </a:rPr>
              <a:t>Apprentice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8842" y="2825496"/>
            <a:ext cx="2674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7B2E"/>
                </a:solidFill>
                <a:latin typeface="Consolas"/>
              </a:rPr>
              <a:t>SHOP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8842" y="3218687"/>
            <a:ext cx="2674010" cy="2862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Review consultations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Advance production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Manage orders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Day-to-day 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965960"/>
            <a:ext cx="3259226" cy="416052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3828" y="2258568"/>
            <a:ext cx="26740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140F"/>
                </a:solidFill>
                <a:latin typeface="Georgia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3828" y="2825496"/>
            <a:ext cx="26740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7B2E"/>
                </a:solidFill>
                <a:latin typeface="Consolas"/>
              </a:rPr>
              <a:t>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3218687"/>
            <a:ext cx="2674010" cy="2862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Everything staff can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Catalogue &amp; pricing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Compose proposals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25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403A2F"/>
                </a:solidFill>
                <a:latin typeface="Segoe UI"/>
              </a:rPr>
              <a:t>Analytics &amp;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09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The qualities behind the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JWT with rotating, blacklistable refresh tokens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Role permissions on the server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, not just hidden UI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Strong password policy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Paystack webhooks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signature-verified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PERFORMANCE &amp;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Paginated lists · images optimised to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WebP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Silent token refresh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Checkout &amp; accept run in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atomic transactions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Idempotent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webhook — no double-charge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Limitations &amp; problems we faced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NOT DONE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No email / SMS notifications (configured, not wired)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Refunds modelled, no full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Some policy copy still static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Top profile menu on placeholder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CHALLENGES FACED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7 people, one codebase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Git branches, merge conflicts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Learning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three.js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for the 3D figure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Railway deploy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env config, CORS, static files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Scope creep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— controlled with MoSCoW &amp; a scope freeze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11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What breaks first at 10,000 users?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468880"/>
            <a:ext cx="1736079" cy="173736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724912"/>
            <a:ext cx="1516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Harden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3218688"/>
            <a:ext cx="14800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558"/>
                </a:solidFill>
                <a:latin typeface="Segoe UI"/>
              </a:rPr>
              <a:t>secrets &amp; debug into env vars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7327" y="2468880"/>
            <a:ext cx="457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7B2E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4527" y="2468880"/>
            <a:ext cx="1736079" cy="173736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4255" y="2724912"/>
            <a:ext cx="1516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Optimise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2543" y="3218688"/>
            <a:ext cx="14800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558"/>
                </a:solidFill>
                <a:latin typeface="Segoe UI"/>
              </a:rPr>
              <a:t>indexes, caching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0607" y="2468880"/>
            <a:ext cx="457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7B2E"/>
                </a:solidFill>
                <a:latin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7807" y="2468880"/>
            <a:ext cx="1736079" cy="173736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7535" y="2724912"/>
            <a:ext cx="1516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Scale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5823" y="3218688"/>
            <a:ext cx="14800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558"/>
                </a:solidFill>
                <a:latin typeface="Segoe UI"/>
              </a:rPr>
              <a:t>bigger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3887" y="2468880"/>
            <a:ext cx="457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7B2E"/>
                </a:solidFill>
                <a:latin typeface="Consola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1087" y="2468880"/>
            <a:ext cx="1736079" cy="173736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0815" y="2724912"/>
            <a:ext cx="1516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Scale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9103" y="3218688"/>
            <a:ext cx="14800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558"/>
                </a:solidFill>
                <a:latin typeface="Segoe UI"/>
              </a:rPr>
              <a:t>many API nodes — JWT already stateless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7167" y="2468880"/>
            <a:ext cx="457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9A7B2E"/>
                </a:solidFill>
                <a:latin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4367" y="2468880"/>
            <a:ext cx="1736079" cy="173736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4095" y="2724912"/>
            <a:ext cx="15166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40F"/>
                </a:solidFill>
                <a:latin typeface="Segoe UI"/>
              </a:rPr>
              <a:t>Decompose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2383" y="3218688"/>
            <a:ext cx="14800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558"/>
                </a:solidFill>
                <a:latin typeface="Segoe UI"/>
              </a:rPr>
              <a:t>media to CDN, background 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517136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3A2F"/>
                </a:solidFill>
                <a:latin typeface="Segoe UI"/>
              </a:rPr>
              <a:t>The signal to scale is </a:t>
            </a:r>
            <a:r>
              <a:rPr sz="1500" b="1" i="0">
                <a:solidFill>
                  <a:srgbClr val="17140F"/>
                </a:solidFill>
                <a:latin typeface="Segoe UI"/>
              </a:rPr>
              <a:t>real demand, not ambition.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75488"/>
            <a:ext cx="7356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484"/>
                </a:solidFill>
                <a:latin typeface="Consolas"/>
              </a:rPr>
              <a:t>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1050919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7140F"/>
                </a:solidFill>
                <a:latin typeface="Georgia"/>
              </a:rPr>
              <a:t>Roadmap &amp; handover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4F1EA"/>
          </a:solidFill>
          <a:ln w="12700">
            <a:solidFill>
              <a:srgbClr val="E1D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Real email · SMS · WhatsApp notifications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Full refund 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Mobile 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Deeper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7871" y="1965960"/>
            <a:ext cx="5062575" cy="4343400"/>
          </a:xfrm>
          <a:prstGeom prst="roundRect">
            <a:avLst>
              <a:gd name="adj" fmla="val 7000"/>
            </a:avLst>
          </a:prstGeom>
          <a:solidFill>
            <a:srgbClr val="F6EED4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2240279"/>
            <a:ext cx="4513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6558"/>
                </a:solidFill>
                <a:latin typeface="Consolas"/>
              </a:rPr>
              <a:t>BUSINESS &amp;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715768"/>
            <a:ext cx="4513935" cy="3319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7 developers =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joint authors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(Ghana Copyright Act 690)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IP assigned to client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 on final payment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Signed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MVP acceptance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984" b="0" i="0">
                <a:solidFill>
                  <a:srgbClr val="D4AF37"/>
                </a:solidFill>
                <a:latin typeface="Segoe UI"/>
              </a:rPr>
              <a:t>●  </a:t>
            </a:r>
            <a:r>
              <a:rPr sz="1200" b="0" i="0">
                <a:solidFill>
                  <a:srgbClr val="403A2F"/>
                </a:solidFill>
                <a:latin typeface="Segoe UI"/>
              </a:rPr>
              <a:t>Hosting &amp; support </a:t>
            </a:r>
            <a:r>
              <a:rPr sz="1200" b="1" i="0">
                <a:solidFill>
                  <a:srgbClr val="17140F"/>
                </a:solidFill>
                <a:latin typeface="Segoe UI"/>
              </a:rPr>
              <a:t>retainer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4630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B2E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9456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17140F"/>
                </a:solidFill>
                <a:latin typeface="Georgia"/>
              </a:rPr>
              <a:t>A real problem, solved with real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17140F"/>
                </a:solidFill>
                <a:latin typeface="Georgia"/>
              </a:rPr>
              <a:t>software engineering.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3434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6558"/>
                </a:solidFill>
                <a:latin typeface="Segoe UI"/>
              </a:rPr>
              <a:t>Our thanks to </a:t>
            </a:r>
            <a:r>
              <a:rPr sz="1600" b="1" i="0">
                <a:solidFill>
                  <a:srgbClr val="6B6558"/>
                </a:solidFill>
                <a:latin typeface="Segoe UI"/>
              </a:rPr>
              <a:t>[Client name]</a:t>
            </a:r>
            <a:r>
              <a:rPr sz="1600" b="0" i="0">
                <a:solidFill>
                  <a:srgbClr val="6B6558"/>
                </a:solidFill>
                <a:latin typeface="Segoe UI"/>
              </a:rPr>
              <a:t> for trusting us with his studio.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8327" y="5120640"/>
            <a:ext cx="6035040" cy="548640"/>
          </a:xfrm>
          <a:prstGeom prst="roundRect">
            <a:avLst>
              <a:gd name="adj" fmla="val 50000"/>
            </a:avLst>
          </a:prstGeom>
          <a:solidFill>
            <a:srgbClr val="FBFAF7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8327" y="512064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40F"/>
                </a:solidFill>
                <a:latin typeface="Consolas"/>
              </a:rPr>
              <a:t>squallyline-frontend-production.up.railway.app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